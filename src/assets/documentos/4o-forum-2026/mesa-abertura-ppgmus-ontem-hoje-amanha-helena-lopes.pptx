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312" r:id="rId5"/>
    <p:sldId id="304" r:id="rId6"/>
    <p:sldId id="324" r:id="rId7"/>
    <p:sldId id="307" r:id="rId8"/>
    <p:sldId id="323" r:id="rId9"/>
    <p:sldId id="325" r:id="rId10"/>
    <p:sldId id="281" r:id="rId11"/>
    <p:sldId id="282" r:id="rId12"/>
    <p:sldId id="326" r:id="rId13"/>
    <p:sldId id="329" r:id="rId14"/>
    <p:sldId id="330" r:id="rId15"/>
    <p:sldId id="331" r:id="rId16"/>
    <p:sldId id="341" r:id="rId17"/>
    <p:sldId id="332" r:id="rId18"/>
    <p:sldId id="335" r:id="rId19"/>
    <p:sldId id="337" r:id="rId20"/>
    <p:sldId id="338" r:id="rId21"/>
    <p:sldId id="339" r:id="rId22"/>
    <p:sldId id="336" r:id="rId23"/>
    <p:sldId id="340" r:id="rId24"/>
    <p:sldId id="314" r:id="rId25"/>
    <p:sldId id="328" r:id="rId26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E1ECC-50E2-4321-94F9-FAC4D528DE1F}" v="50" dt="2026-08-25T15:32:04.460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033" autoAdjust="0"/>
  </p:normalViewPr>
  <p:slideViewPr>
    <p:cSldViewPr snapToGrid="0" snapToObjects="1">
      <p:cViewPr varScale="1">
        <p:scale>
          <a:sx n="91" d="100"/>
          <a:sy n="91" d="100"/>
        </p:scale>
        <p:origin x="208" y="68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capes/pt-br/acesso-a-informacao/acoes-e-programas/avaliacao/sobre-a-avaliacao/areas-avaliacao/sobre-as-areas-de-avaliacao/colegio-de-humanidades/linguistica-letras-e-artes/Artes_Relatorio_SMT_2023_1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ortal.ifce.edu.br/documents/9341/Fortaleza_PPGARTES_Avalia%C3%A7%C3%A3o_Capes.pdf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Comissão de Avaliação reconhece que, de forma geral, a Área de Artes pode estar mais atenta à indicação da produção de discentes/egressos vinculada aos trabalhos finais (teses e dissertações). Embora reconheça que houve avanços em relação ao período avaliativo da Quadrienal passada, a Comissão entende que ainda houve subnotificação por falta de marcação nos campos adequados da Plataforma Sucupira.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8709F-ACCC-1C7E-74CB-0A4BAD90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B508360-311A-6FA6-2FD3-6357DD62C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296F3A8-9EA5-B87C-4B1B-8701D61DF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Comissão de Avaliação reconhece que, de forma geral, a Área de Artes pode estar mais atenta à indicação da produção de discentes/egressos vinculada aos trabalhos finais (teses e dissertações). Embora reconheça que houve avanços em relação ao período avaliativo da Quadrienal passada, a Comissão entende que ainda houve subnotificação por falta de marcação nos campos adequados da Plataforma Sucupira.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7300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PCA e </a:t>
            </a:r>
            <a:r>
              <a:rPr lang="pt-BR" b="1" dirty="0"/>
              <a:t>PDDP</a:t>
            </a:r>
            <a:r>
              <a:rPr lang="pt-BR" dirty="0"/>
              <a:t> na Avaliação Quadrienal da CAPES referem-se a dimensões e indicadores analíticos aplicados na análise da produção intelectual e do desempenho dos Programas de Pós-Graduação (</a:t>
            </a:r>
            <a:r>
              <a:rPr lang="pt-BR" dirty="0" err="1"/>
              <a:t>PPGs</a:t>
            </a:r>
            <a:r>
              <a:rPr lang="pt-BR" dirty="0"/>
              <a:t>). [</a:t>
            </a:r>
            <a:r>
              <a:rPr lang="pt-BR" dirty="0">
                <a:hlinkClick r:id="rId3"/>
              </a:rPr>
              <a:t>1</a:t>
            </a:r>
            <a:r>
              <a:rPr lang="pt-BR" dirty="0"/>
              <a:t>, </a:t>
            </a:r>
            <a:r>
              <a:rPr lang="pt-BR" dirty="0">
                <a:hlinkClick r:id="rId4"/>
              </a:rPr>
              <a:t>2</a:t>
            </a:r>
            <a:r>
              <a:rPr lang="pt-BR" dirty="0"/>
              <a:t>]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1080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" b="1" cap="all" dirty="0"/>
              <a:t>Grupo de Cooperação Internacional de Universidades Brasileiras (</a:t>
            </a:r>
            <a:r>
              <a:rPr lang="pt-BR" sz="600" dirty="0"/>
              <a:t>GCUB são destinados a estudantes de graduação e de pós-graduação, bem como a pesquisadores e professores de todas as áreas do conhecimento. Por meio desses programas, milhares de estudantes brasileiros e estrangeiros têm a oportunidade de aprimorar seus estudos e de compartilhar valores e visões com pessoas de outras culturas dos cinco continentes.</a:t>
            </a:r>
            <a:r>
              <a:rPr lang="pt-BR" sz="700" dirty="0"/>
              <a:t> (GCUB </a:t>
            </a:r>
            <a:r>
              <a:rPr lang="pt-BR" sz="700" dirty="0" err="1"/>
              <a:t>Mob</a:t>
            </a:r>
            <a:r>
              <a:rPr lang="pt-BR" sz="700" dirty="0"/>
              <a:t> – Mobilidade internacional; </a:t>
            </a:r>
            <a:r>
              <a:rPr lang="pt-BR" b="1" dirty="0"/>
              <a:t>Move La América</a:t>
            </a:r>
            <a:r>
              <a:rPr lang="pt-BR" dirty="0"/>
              <a:t>: Oferece bolsas de curta duração no Brasil para pós-graduandos latino-caribenhos, fortalecendo laços regionais; </a:t>
            </a:r>
            <a:r>
              <a:rPr lang="pt-BR" b="1" dirty="0"/>
              <a:t>Redes para Internacionalização (CAPES Global.edu)</a:t>
            </a:r>
            <a:r>
              <a:rPr lang="pt-BR" dirty="0"/>
              <a:t>: Fomenta redes institucionais e projetos conjuntos de pesquisa em pós-graduação.</a:t>
            </a:r>
          </a:p>
          <a:p>
            <a:pPr rtl="0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0087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1161737"/>
            <a:ext cx="6389648" cy="3390114"/>
          </a:xfrm>
        </p:spPr>
        <p:txBody>
          <a:bodyPr rtlCol="0" anchor="b">
            <a:normAutofit fontScale="90000"/>
          </a:bodyPr>
          <a:lstStyle>
            <a:defPPr>
              <a:defRPr lang="pt-BR"/>
            </a:defPPr>
          </a:lstStyle>
          <a:p>
            <a:pPr rtl="0">
              <a:lnSpc>
                <a:spcPct val="90000"/>
              </a:lnSpc>
            </a:pPr>
            <a:r>
              <a:rPr lang="pt-BR" sz="3100" dirty="0">
                <a:solidFill>
                  <a:schemeClr val="tx1"/>
                </a:solidFill>
                <a:latin typeface="Acumin Pro" panose="020B0504020202020204" pitchFamily="34" charset="77"/>
              </a:rPr>
              <a:t>IV Seminário de </a:t>
            </a:r>
            <a:r>
              <a:rPr lang="pt-BR" sz="3100" dirty="0" err="1">
                <a:solidFill>
                  <a:schemeClr val="tx1"/>
                </a:solidFill>
                <a:latin typeface="Acumin Pro" panose="020B0504020202020204" pitchFamily="34" charset="77"/>
              </a:rPr>
              <a:t>Autoavaliação</a:t>
            </a:r>
            <a:r>
              <a:rPr lang="pt-BR" sz="3100" dirty="0">
                <a:solidFill>
                  <a:schemeClr val="tx1"/>
                </a:solidFill>
                <a:latin typeface="Acumin Pro" panose="020B0504020202020204" pitchFamily="34" charset="77"/>
              </a:rPr>
              <a:t> e planejamento estratégico </a:t>
            </a:r>
            <a:b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b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1600" dirty="0">
                <a:solidFill>
                  <a:schemeClr val="tx1"/>
                </a:solidFill>
                <a:latin typeface="Acumin Pro" panose="020B0504020202020204" pitchFamily="34" charset="77"/>
              </a:rPr>
              <a:t>(</a:t>
            </a:r>
            <a:r>
              <a:rPr lang="pt-BR" sz="1600" dirty="0" err="1">
                <a:solidFill>
                  <a:schemeClr val="tx1"/>
                </a:solidFill>
                <a:latin typeface="Acumin Pro" panose="020B0504020202020204" pitchFamily="34" charset="77"/>
              </a:rPr>
              <a:t>comape</a:t>
            </a:r>
            <a:r>
              <a:rPr lang="pt-BR" sz="1600" dirty="0">
                <a:solidFill>
                  <a:schemeClr val="tx1"/>
                </a:solidFill>
                <a:latin typeface="Acumin Pro" panose="020B0504020202020204" pitchFamily="34" charset="77"/>
              </a:rPr>
              <a:t>/PPGMUS </a:t>
            </a:r>
            <a:r>
              <a:rPr lang="pt-BR" sz="1600" dirty="0" err="1">
                <a:solidFill>
                  <a:schemeClr val="tx1"/>
                </a:solidFill>
                <a:latin typeface="Acumin Pro" panose="020B0504020202020204" pitchFamily="34" charset="77"/>
              </a:rPr>
              <a:t>ufmg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)</a:t>
            </a:r>
            <a:br>
              <a:rPr lang="pt-BR" sz="2000" b="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br>
              <a:rPr lang="pt-BR" sz="2000" b="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br>
              <a:rPr lang="pt-BR" sz="2000" b="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2200" b="0" dirty="0">
                <a:solidFill>
                  <a:schemeClr val="tx1"/>
                </a:solidFill>
                <a:latin typeface="Acumin Pro" panose="020B0504020202020204" pitchFamily="34" charset="77"/>
              </a:rPr>
              <a:t>avaliação quadrienal capes</a:t>
            </a:r>
            <a:br>
              <a:rPr lang="pt-BR" sz="2200" b="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2200" b="0" dirty="0">
                <a:solidFill>
                  <a:schemeClr val="tx1"/>
                </a:solidFill>
                <a:latin typeface="Acumin Pro" panose="020B0504020202020204" pitchFamily="34" charset="77"/>
              </a:rPr>
              <a:t>2021-2024 | nota 6 </a:t>
            </a:r>
            <a:b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b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br>
              <a:rPr lang="pt-BR" sz="1400" dirty="0">
                <a:latin typeface="Acumin Pro" panose="020B0504020202020204" pitchFamily="34" charset="77"/>
              </a:rPr>
            </a:br>
            <a:endParaRPr lang="pt-BR" sz="1400" dirty="0"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34279"/>
            <a:ext cx="10511627" cy="1012785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Ficha avaliação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5C051A7-9CF5-10C9-2335-F90DE49CA31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654546" y="1626491"/>
            <a:ext cx="8770797" cy="4714304"/>
          </a:xfrm>
          <a:prstGeom prst="rect">
            <a:avLst/>
          </a:prstGeom>
          <a:noFill/>
        </p:spPr>
      </p:pic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 anchor="ctr">
            <a:normAutofit/>
          </a:bodyPr>
          <a:lstStyle>
            <a:defPPr>
              <a:defRPr lang="pt-BR"/>
            </a:defPPr>
          </a:lstStyle>
          <a:p>
            <a:pPr rtl="0">
              <a:spcAft>
                <a:spcPts val="600"/>
              </a:spcAft>
            </a:pPr>
            <a:fld id="{48F63A3B-78C7-47BE-AE5E-E10140E04643}" type="slidenum">
              <a:rPr lang="pt-BR" smtClean="0"/>
              <a:pPr rtl="0">
                <a:spcAft>
                  <a:spcPts val="600"/>
                </a:spcAft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2307E-C0E6-AE10-06B7-431F0806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4665"/>
            <a:ext cx="10511627" cy="10127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Programa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1800" dirty="0">
                <a:solidFill>
                  <a:schemeClr val="tx1"/>
                </a:solidFill>
                <a:latin typeface="Acumin Pro" panose="020B0504020202020204" pitchFamily="34" charset="77"/>
              </a:rPr>
              <a:t>avaliação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A1B29A0-6394-9FE8-C31E-FE3C9E4C10F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864210" y="2453269"/>
            <a:ext cx="10506061" cy="3110400"/>
          </a:xfrm>
          <a:prstGeom prst="rect">
            <a:avLst/>
          </a:prstGeom>
          <a:noFill/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8EEA11-2592-FB30-1F0B-1298CD511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8F63A3B-78C7-47BE-AE5E-E10140E04643}" type="slidenum">
              <a:rPr lang="pt-BR" smtClean="0"/>
              <a:pPr rtl="0">
                <a:spcAft>
                  <a:spcPts val="600"/>
                </a:spcAft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67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312078"/>
            <a:ext cx="10213144" cy="1397623"/>
          </a:xfrm>
        </p:spPr>
        <p:txBody>
          <a:bodyPr rtlCol="0" anchor="b">
            <a:normAutofit fontScale="90000"/>
          </a:bodyPr>
          <a:lstStyle>
            <a:defPPr>
              <a:defRPr lang="pt-BR"/>
            </a:defPPr>
          </a:lstStyle>
          <a:p>
            <a:pPr>
              <a:lnSpc>
                <a:spcPct val="90000"/>
              </a:lnSpc>
            </a:pPr>
            <a:br>
              <a:rPr lang="pt-BR" sz="2000" dirty="0">
                <a:latin typeface="Acumin Pro" panose="020B0504020202020204" pitchFamily="34" charset="77"/>
              </a:rPr>
            </a:br>
            <a:br>
              <a:rPr lang="pt-BR" sz="2000" dirty="0">
                <a:latin typeface="Acumin Pro" panose="020B0504020202020204" pitchFamily="34" charset="77"/>
              </a:rPr>
            </a:br>
            <a:br>
              <a:rPr lang="pt-BR" sz="2000" dirty="0">
                <a:latin typeface="Acumin Pro" panose="020B0504020202020204" pitchFamily="34" charset="77"/>
              </a:rPr>
            </a:br>
            <a:br>
              <a:rPr lang="pt-BR" sz="2000" dirty="0">
                <a:latin typeface="Acumin Pro" panose="020B0504020202020204" pitchFamily="34" charset="77"/>
              </a:rPr>
            </a:br>
            <a:br>
              <a:rPr lang="pt-BR" sz="2000" dirty="0">
                <a:latin typeface="Acumin Pro" panose="020B0504020202020204" pitchFamily="34" charset="77"/>
              </a:rPr>
            </a:br>
            <a:br>
              <a:rPr lang="pt-BR" sz="3100" dirty="0">
                <a:latin typeface="Acumin Pro" panose="020B0504020202020204" pitchFamily="34" charset="77"/>
              </a:rPr>
            </a:br>
            <a:br>
              <a:rPr lang="pt-BR" sz="3100" dirty="0">
                <a:latin typeface="Acumin Pro" panose="020B0504020202020204" pitchFamily="34" charset="77"/>
              </a:rPr>
            </a:br>
            <a:br>
              <a:rPr lang="pt-BR" sz="3100" dirty="0">
                <a:latin typeface="Acumin Pro" panose="020B0504020202020204" pitchFamily="34" charset="77"/>
              </a:rPr>
            </a:br>
            <a:br>
              <a:rPr lang="pt-BR" sz="3100" dirty="0">
                <a:latin typeface="Acumin Pro" panose="020B0504020202020204" pitchFamily="34" charset="77"/>
              </a:rPr>
            </a:br>
            <a:br>
              <a:rPr lang="pt-BR" sz="3100" dirty="0">
                <a:latin typeface="Acumin Pro" panose="020B0504020202020204" pitchFamily="34" charset="77"/>
              </a:rPr>
            </a:br>
            <a:r>
              <a:rPr lang="pt-BR" sz="3100" dirty="0">
                <a:solidFill>
                  <a:schemeClr val="tx1"/>
                </a:solidFill>
                <a:latin typeface="Acumin Pro" panose="020B0504020202020204" pitchFamily="34" charset="77"/>
              </a:rPr>
              <a:t>1. PROGRAMA</a:t>
            </a:r>
            <a:endParaRPr lang="pt-BR" sz="1700" dirty="0">
              <a:latin typeface="Acumin Pro" panose="020B0504020202020204" pitchFamily="34" charset="77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67BCC1-A3D4-862B-748D-38CF76645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085545"/>
            <a:ext cx="10511627" cy="5179079"/>
          </a:xfrm>
        </p:spPr>
        <p:txBody>
          <a:bodyPr/>
          <a:lstStyle/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F474A8A-F9A8-7561-FDCC-57DF8CD76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48F63A3B-78C7-47BE-AE5E-E10140E04643}" type="slidenum">
              <a:rPr lang="pt-BR" smtClean="0"/>
              <a:pPr rtl="0">
                <a:spcAft>
                  <a:spcPts val="600"/>
                </a:spcAft>
              </a:pPr>
              <a:t>4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91AC48D-32E7-AF5E-53BE-2E1D5C37EE8F}"/>
              </a:ext>
            </a:extLst>
          </p:cNvPr>
          <p:cNvSpPr txBox="1"/>
          <p:nvPr/>
        </p:nvSpPr>
        <p:spPr>
          <a:xfrm>
            <a:off x="953729" y="1226344"/>
            <a:ext cx="1043296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latin typeface="Acumin Pro" panose="020B0504020202020204" pitchFamily="34" charset="77"/>
              </a:rPr>
              <a:t>M</a:t>
            </a:r>
            <a:r>
              <a:rPr lang="pt-BR" sz="2000" b="1" i="0" u="none" strike="noStrike" baseline="0" dirty="0">
                <a:latin typeface="Acumin Pro" panose="020B0504020202020204" pitchFamily="34" charset="77"/>
              </a:rPr>
              <a:t>issão e os objetivos do PPG:</a:t>
            </a:r>
            <a:r>
              <a:rPr lang="pt-BR" sz="2000" b="0" i="0" u="none" strike="noStrike" baseline="0" dirty="0">
                <a:latin typeface="Acumin Pro" panose="020B0504020202020204" pitchFamily="34" charset="77"/>
              </a:rPr>
              <a:t> ressaltam a transversalidade, a inovação e a consciência sociocultural como valores que vêm sendo mantidos desde o quadriênio anterior, perpassando os trabalhos de todas as linhas de pesquisa do PPG. </a:t>
            </a:r>
            <a:endParaRPr lang="pt-BR" sz="2000" b="1" i="0" u="none" strike="noStrike" baseline="0" dirty="0">
              <a:latin typeface="Acumin Pro" panose="020B0504020202020204" pitchFamily="34" charset="77"/>
            </a:endParaRPr>
          </a:p>
          <a:p>
            <a:endParaRPr lang="pt-BR" sz="2000" b="1" i="0" u="none" strike="noStrike" baseline="0" dirty="0">
              <a:latin typeface="Acumin Pro" panose="020B0504020202020204" pitchFamily="34" charset="77"/>
            </a:endParaRPr>
          </a:p>
          <a:p>
            <a:r>
              <a:rPr lang="pt-BR" sz="2000" b="1" i="0" u="none" strike="noStrike" baseline="0" dirty="0">
                <a:latin typeface="Acumin Pro" panose="020B0504020202020204" pitchFamily="34" charset="77"/>
              </a:rPr>
              <a:t>Infraestrutura: </a:t>
            </a:r>
            <a:r>
              <a:rPr lang="pt-BR" sz="2000" b="0" i="0" u="none" strike="noStrike" baseline="0" dirty="0">
                <a:latin typeface="Acumin Pro" panose="020B0504020202020204" pitchFamily="34" charset="77"/>
              </a:rPr>
              <a:t>adequada para o desenvolvimento das ações do PPG, contando com espaços e suporte tecnológico que atende às demandas do Programa. </a:t>
            </a:r>
            <a:r>
              <a:rPr lang="pt-BR" sz="2000" u="sng" dirty="0">
                <a:latin typeface="Acumin Pro" panose="020B0504020202020204" pitchFamily="34" charset="77"/>
              </a:rPr>
              <a:t>Está em andamento a ampliação das instalações dos espaços do PPG, que estarão disponíveis em 2026.</a:t>
            </a:r>
          </a:p>
          <a:p>
            <a:pPr algn="just"/>
            <a:endParaRPr lang="pt-BR" sz="2000" b="1" dirty="0">
              <a:latin typeface="Acumin Pro" panose="020B0504020202020204" pitchFamily="34" charset="77"/>
            </a:endParaRPr>
          </a:p>
          <a:p>
            <a:pPr algn="just"/>
            <a:r>
              <a:rPr lang="pt-BR" sz="2000" b="1" dirty="0">
                <a:latin typeface="Acumin Pro" panose="020B0504020202020204" pitchFamily="34" charset="77"/>
              </a:rPr>
              <a:t>Núcleo docente: </a:t>
            </a:r>
            <a:r>
              <a:rPr lang="pt-BR" sz="2000" dirty="0">
                <a:latin typeface="Acumin Pro" panose="020B0504020202020204" pitchFamily="34" charset="77"/>
              </a:rPr>
              <a:t>46 docentes: 36 permanentes e 10 colaboradores, além da atuação eventual de professores visitantes. Proporção de docentes permanentes e colaboradores atendidas plenamente: (84,62% docentes permanentes e 15,38% colaboradores). </a:t>
            </a: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r>
              <a:rPr lang="pt-BR" sz="2000" b="1" dirty="0">
                <a:latin typeface="Acumin Pro" panose="020B0504020202020204" pitchFamily="34" charset="77"/>
              </a:rPr>
              <a:t>Planejamento estratégico:</a:t>
            </a:r>
            <a:r>
              <a:rPr lang="pt-BR" sz="2000" dirty="0">
                <a:latin typeface="Acumin Pro" panose="020B0504020202020204" pitchFamily="34" charset="77"/>
              </a:rPr>
              <a:t> alinhado ao PDI da IES, apresenta detalhamentos referentes ao aprimoramento de processos de credenciamento e recredenciamento, internacionalização, publicações regulares, residências pós-doutorais e </a:t>
            </a:r>
            <a:r>
              <a:rPr lang="pt-BR" sz="2000" u="sng" dirty="0">
                <a:latin typeface="Acumin Pro" panose="020B0504020202020204" pitchFamily="34" charset="77"/>
              </a:rPr>
              <a:t>realização de DINTER e MINTER.</a:t>
            </a:r>
            <a:r>
              <a:rPr lang="pt-BR" sz="2000" dirty="0">
                <a:latin typeface="Acumin Pro" panose="020B0504020202020204" pitchFamily="34" charset="77"/>
              </a:rPr>
              <a:t> Prevê o atendimento às demandas específicas dos discentes, assim como a adesão a políticas afirmativas em consonância com orientações da IES.</a:t>
            </a: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solidFill>
                <a:schemeClr val="accent6"/>
              </a:solidFill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  <a:p>
            <a:pPr algn="just"/>
            <a:endParaRPr lang="pt-BR" sz="2000" dirty="0"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4A86F2-437C-2BF5-6A4D-A3D8F806D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759391"/>
            <a:ext cx="10511627" cy="6098609"/>
          </a:xfrm>
        </p:spPr>
        <p:txBody>
          <a:bodyPr>
            <a:noAutofit/>
          </a:bodyPr>
          <a:lstStyle/>
          <a:p>
            <a:pPr algn="just"/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Autoavaliação: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possui comissão específica para ações avaliativas (COMAPE- 2023), contando com assessoria de membro externo para o desenvolvimento dos trabalhos (Luciana </a:t>
            </a:r>
            <a:r>
              <a:rPr lang="pt-BR" sz="2000" dirty="0" err="1">
                <a:solidFill>
                  <a:schemeClr val="tx1"/>
                </a:solidFill>
                <a:latin typeface="Acumin Pro" panose="020B0504020202020204" pitchFamily="34" charset="77"/>
              </a:rPr>
              <a:t>del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Ben; Luís Ricardo Queiroz)</a:t>
            </a:r>
          </a:p>
          <a:p>
            <a:pPr algn="just"/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Estratégias de autoavaliação: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questionários e fóruns para docentes e discentes (diagnóstico sobre a percepção do PPGMUS, e aspectos que podem contribuir para o aprimoramento das ações do PPG. Prevê ações de autoavaliação focadas na análise da qualidade das produções dos docentes, discentes e egressos; controle sobre evasão e retenção; políticas de seleção de discentes; estrutura curricular, linhas de pesquisa e disciplinas, bolsas, integração com a graduação e extensão, impactos, internacionalização.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Apreciação: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O relatório apresentado demonstra clareza e detalhamento em todos os elementos considerados para a avaliação: missão, área de concentração, linhas de pesquisa, objetivos, infraestrutura, estrutura curricular, corpo docente, planejamento estratégico e autoavaliação. A análise do relatório evidencia a adequação do Programa aos diversos requisitos para o desenvolvimento de atividades pertinentes aos cursos de mestrado e doutorado oferecidos, demonstrando ações continuadas para o aprimoramento do PPG.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14457EE-96A3-63BF-1F05-705A40AEA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130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C779D-3D69-6AB5-E273-6D6920BB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5971"/>
            <a:ext cx="10511627" cy="671042"/>
          </a:xfrm>
        </p:spPr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Ficha de avaliação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7FEDB4D-A681-17C1-BF49-DF9F5E888E7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14400" y="1912394"/>
            <a:ext cx="10620183" cy="3698443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A300F3-EB98-8C74-8508-6A6081B06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6772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5970"/>
            <a:ext cx="10511627" cy="69113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avaliação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1AE05D-7EA8-924A-21F3-2486145E45F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097280" y="1448597"/>
            <a:ext cx="10269257" cy="41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8713"/>
            <a:ext cx="10511627" cy="67320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dirty="0">
                <a:latin typeface="Acumin Pro" panose="020B0504020202020204" pitchFamily="34" charset="77"/>
              </a:rPr>
              <a:t> </a:t>
            </a:r>
            <a:br>
              <a:rPr lang="pt-BR" sz="2800" dirty="0">
                <a:latin typeface="Acumin Pro" panose="020B0504020202020204" pitchFamily="34" charset="77"/>
              </a:rPr>
            </a:br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formação 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436687"/>
            <a:ext cx="10511627" cy="4964114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algn="just"/>
            <a:r>
              <a:rPr lang="pt-BR" b="1" dirty="0">
                <a:solidFill>
                  <a:schemeClr val="tx1"/>
                </a:solidFill>
                <a:latin typeface="Acumin Pro" panose="020B0504020202020204" pitchFamily="34" charset="77"/>
              </a:rPr>
              <a:t>Discentes e egressos: </a:t>
            </a:r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272 discentes matriculados, sendo 178 titulados no quadriênio.</a:t>
            </a:r>
          </a:p>
          <a:p>
            <a:pPr algn="just"/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Produtos de e com discentes/egressos: </a:t>
            </a:r>
            <a:r>
              <a:rPr lang="pt-BR" b="1" dirty="0">
                <a:solidFill>
                  <a:schemeClr val="tx1"/>
                </a:solidFill>
                <a:latin typeface="Acumin Pro" panose="020B0504020202020204" pitchFamily="34" charset="77"/>
              </a:rPr>
              <a:t>50% da produção realizada por discentes, e/ou egressos e/ou com docentes e 50% por docentes. </a:t>
            </a:r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 </a:t>
            </a:r>
          </a:p>
          <a:p>
            <a:pPr algn="just"/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281 produtos: 93 artísticos, 25 produções técnicas, 59 trabalhos em anais, 29 livros/capítulos</a:t>
            </a:r>
            <a:b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de livro e 75 artigos em periódicos. No conjunto, predominam as </a:t>
            </a:r>
            <a:r>
              <a:rPr lang="pt-BR" b="1" dirty="0">
                <a:solidFill>
                  <a:schemeClr val="tx1"/>
                </a:solidFill>
                <a:latin typeface="Acumin Pro" panose="020B0504020202020204" pitchFamily="34" charset="77"/>
              </a:rPr>
              <a:t>produções bibliográficas.</a:t>
            </a:r>
          </a:p>
          <a:p>
            <a:pPr algn="just"/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Produção  intelectual de discentes e egressos: diversificada e oferece diversos tipos de impacto, como atuação de egressos em diferentes áreas do mercado profissional, incluindo a educação básica e a educação superior, ensino de música privado e em escolas, participação em grupos musicais. </a:t>
            </a:r>
          </a:p>
          <a:p>
            <a:pPr algn="just"/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Teses e dissertação destaque: as 7 teses e 1 dissertação indicadas apresentam aderência aos objetivos e metas do PPG, contribuindo com pesquisas nas diferentes subáreas de música. Produtos bibliográficos, artísticos e tecnológicos vinculados às teses e dissertações reiteram contribuições diversas para a área de música. (3 premiações das teses)</a:t>
            </a:r>
          </a:p>
          <a:p>
            <a:pPr algn="just"/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Egressos destacados: 4 atuam como professores universitários em instituições públicas,</a:t>
            </a:r>
            <a:b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um egresso atua como regente e professor em escola de música, com intensa atividade artística.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F500-5109-15FC-1045-F51A9A96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2AD48A-7FCC-7FB1-2B4F-52F13C5FC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928688"/>
            <a:ext cx="10511627" cy="5539627"/>
          </a:xfrm>
        </p:spPr>
        <p:txBody>
          <a:bodyPr rtlCol="0">
            <a:noAutofit/>
          </a:bodyPr>
          <a:lstStyle>
            <a:defPPr>
              <a:defRPr lang="pt-BR"/>
            </a:defPPr>
          </a:lstStyle>
          <a:p>
            <a:pPr algn="just"/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Dos 36 docentes permanentes que atuaram durante o quadriênio, 28 apresentaram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pelo menos uma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produção qualificada, equivalendo a 77,8% do total. 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As atividades de ensino, orientação e pesquisa do PPG, tanto na pós-graduação quanto na graduação, demonstram que a quase totalidade está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acima da média da área.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Impactos em nível nacional e internacional: participação em redes de pesquisa e organização de eventos relevantes para a área. A relevância da produção pode ser verificada a partir de projetos financiados por agências de fomento e pela IES, reiterando a qualidade da produção desenvolvida no PPG. </a:t>
            </a:r>
            <a:endParaRPr lang="pt-BR" sz="2000" b="1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algn="just"/>
            <a:endParaRPr lang="pt-BR" sz="2000" b="1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Apreciação: 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O PPG Música da UFMG demonstrou em seu relatório e nos dados quantitativos levantados que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atende plenamente aos seus objetivos de formação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: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os docentes e discentes/egressos  apresentaram produção intelectual em número e qualificação superiores à média da área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, os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TCC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evidenciam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impacto e relevância para a área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, os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egressos vêm atuando de modo significativo nos campos da arte, educação e cultura, dentro da </a:t>
            </a:r>
            <a:r>
              <a:rPr lang="pt-BR" sz="2000" b="1" u="sng" dirty="0">
                <a:solidFill>
                  <a:schemeClr val="tx1"/>
                </a:solidFill>
                <a:latin typeface="Acumin Pro" panose="020B0504020202020204" pitchFamily="34" charset="77"/>
              </a:rPr>
              <a:t>abrangência nacional </a:t>
            </a: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definida pelo programa.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7F39A60-9172-0E88-3CDC-602446467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279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98A35-4D75-9569-5FEE-51C24E3B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anchor="b">
            <a:normAutofit/>
          </a:bodyPr>
          <a:lstStyle/>
          <a:p>
            <a:r>
              <a:rPr lang="pt-BR" sz="3100" dirty="0">
                <a:solidFill>
                  <a:schemeClr val="tx1"/>
                </a:solidFill>
                <a:latin typeface="Acumin Pro" panose="020B0504020202020204" pitchFamily="34" charset="77"/>
              </a:rPr>
              <a:t>Ficha de avaliação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55AA9DA-0069-9416-9AEF-F429114718E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14400" y="3068370"/>
            <a:ext cx="10511627" cy="2443951"/>
          </a:xfrm>
          <a:prstGeom prst="rect">
            <a:avLst/>
          </a:prstGeom>
          <a:noFill/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3B90D2-C830-796C-5318-BEBFC1A91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8F63A3B-78C7-47BE-AE5E-E10140E04643}" type="slidenum">
              <a:rPr lang="pt-BR" smtClean="0"/>
              <a:pPr rtl="0">
                <a:spcAft>
                  <a:spcPts val="600"/>
                </a:spcAft>
              </a:pPr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17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C1CE6-FB71-3AE1-A748-64859A18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  <a:t>avaliação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D4B77B1-D689-A60A-F728-B7F17B3D602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14400" y="4149969"/>
            <a:ext cx="10801261" cy="1622619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A0B755-597F-75AB-FBEF-24DEF7F18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845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73C8D-56A1-E8CE-0A8E-61F57C05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3. Impacto na sociedade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800" dirty="0">
              <a:solidFill>
                <a:schemeClr val="tx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B8F32D-96A9-A96C-26E8-C16BC3F0F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3723" y="1915930"/>
            <a:ext cx="10511627" cy="4652964"/>
          </a:xfrm>
        </p:spPr>
        <p:txBody>
          <a:bodyPr>
            <a:normAutofit/>
          </a:bodyPr>
          <a:lstStyle/>
          <a:p>
            <a:pPr algn="just"/>
            <a:r>
              <a:rPr lang="pt-BR" sz="2200" dirty="0">
                <a:solidFill>
                  <a:schemeClr val="tx1"/>
                </a:solidFill>
                <a:latin typeface="Acumin Pro" panose="020B0504020202020204" pitchFamily="34" charset="77"/>
              </a:rPr>
              <a:t>Os dados do PCA indicam 10 pontos e os dados do PDDP indicam 8 pontos, totalizando 18 pontos.</a:t>
            </a:r>
          </a:p>
          <a:p>
            <a:pPr algn="just"/>
            <a:r>
              <a:rPr lang="pt-BR" sz="2200" dirty="0">
                <a:solidFill>
                  <a:schemeClr val="tx1"/>
                </a:solidFill>
                <a:latin typeface="Acumin Pro" panose="020B0504020202020204" pitchFamily="34" charset="77"/>
              </a:rPr>
              <a:t>A produção destacada pelo PPG Música da UFMG apresentou clara articulação com os seus objetivos de pesquisa e formação, demonstrando impacto e inserção social abrangentes e de qualidade a partir dos resultados das dissertações de mestrado e teses de doutorado nas diferentes linhas de pesquisa. Tal produção contribui para o desenvolvimento de ações educacionais, artísticas e culturais em âmbito local, regional e nacional, além de contribuições internacionais.</a:t>
            </a:r>
          </a:p>
          <a:p>
            <a:endParaRPr lang="pt-BR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endParaRPr lang="pt-BR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endParaRPr lang="pt-BR" dirty="0">
              <a:latin typeface="Acumin Pro" panose="020B0504020202020204" pitchFamily="34" charset="77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EAB728-7849-D1F9-7A0B-F90D4C27E0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536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BF85F44-6FE1-56D0-6C5D-2CDE9D8C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 3. Impacto na sociedade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800" dirty="0">
              <a:latin typeface="Acumin Pro" panose="020B0504020202020204" pitchFamily="34" charset="77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041FDB-1ECF-650F-B9E2-A703919A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C87937-243F-6B00-365E-D59DED7B8860}"/>
              </a:ext>
            </a:extLst>
          </p:cNvPr>
          <p:cNvSpPr txBox="1"/>
          <p:nvPr/>
        </p:nvSpPr>
        <p:spPr>
          <a:xfrm>
            <a:off x="895738" y="1331383"/>
            <a:ext cx="10599575" cy="494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2200" b="1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algn="just">
              <a:lnSpc>
                <a:spcPct val="150000"/>
              </a:lnSpc>
            </a:pPr>
            <a:r>
              <a:rPr lang="pt-BR" sz="2200" b="1" dirty="0">
                <a:solidFill>
                  <a:schemeClr val="tx1"/>
                </a:solidFill>
                <a:latin typeface="Acumin Pro" panose="020B0504020202020204" pitchFamily="34" charset="77"/>
              </a:rPr>
              <a:t>Apreciação:</a:t>
            </a:r>
            <a:r>
              <a:rPr lang="pt-BR" sz="2200" dirty="0">
                <a:solidFill>
                  <a:schemeClr val="tx1"/>
                </a:solidFill>
                <a:latin typeface="Acumin Pro" panose="020B0504020202020204" pitchFamily="34" charset="77"/>
              </a:rPr>
              <a:t> O PPG Música da UFMG demonstrou em seu relatório e nos destaques da produção intelectual que vem produzindo um efeito transformador na sociedade. Os produtos destacados de docentes e discentes revelam impacto, inovação e relevância para a área adequados. Há parcerias com outras IES, redes de pesquisa nacionais e internacionais. Também é visível o atendimento a demandas específicas em nível local, regional ou nacional. A página do Programa na internet é adequada, apresentando informações detalhadas sobre diversos aspectos relacionados ao funcionamento do PPG. O site está disponível em inglês e espanhol permitindo maior acessibilidade da comunidade internacional.</a:t>
            </a:r>
          </a:p>
        </p:txBody>
      </p:sp>
    </p:spTree>
    <p:extLst>
      <p:ext uri="{BB962C8B-B14F-4D97-AF65-F5344CB8AC3E}">
        <p14:creationId xmlns:p14="http://schemas.microsoft.com/office/powerpoint/2010/main" val="355890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944E8-DC45-0AE1-35D4-E77EFA3D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QUESITOS DE EXCELÊNCIA 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programas </a:t>
            </a:r>
            <a:r>
              <a:rPr lang="pt-BR" sz="2000" dirty="0" err="1">
                <a:solidFill>
                  <a:schemeClr val="tx1"/>
                </a:solidFill>
                <a:latin typeface="Acumin Pro" panose="020B0504020202020204" pitchFamily="34" charset="77"/>
              </a:rPr>
              <a:t>NOTAs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 6 E 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09E48-0242-B441-C1C4-C2F50296ED5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b="1" dirty="0">
                <a:solidFill>
                  <a:schemeClr val="tx1"/>
                </a:solidFill>
                <a:latin typeface="Acumin Pro" panose="020B0504020202020204" pitchFamily="34" charset="77"/>
              </a:rPr>
              <a:t>Itens de Avaliação Peso Avaliação: </a:t>
            </a: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Descrever as caraterísticas de excelência do PPG em relação ao Quesito 2 (Formação), em que a área deve apresentar clara distinção dos demais programas que receberam nota 5, considerando os indicadores de excelência de formação e produção intelectual da área e o nível de desempenho superior; e para o Quesito 3 (Impacto), apresentar notória demonstração de excelência nos indicadores qualitativos de impacto da produção intelectual; clara liderança, inserção e reconhecimento no cenário nacional e demonstrar padrão de atuação internacional, sem prejuízo de outras que as áreas julgarem pertinentes.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2E4345-287D-E2D5-63D3-D01AB80A9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258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D783FF8-F419-0106-4EBC-F5131F0C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68235"/>
            <a:ext cx="10671048" cy="498147"/>
          </a:xfrm>
        </p:spPr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    Formação e Estrutura Curricular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800" dirty="0">
              <a:latin typeface="Acumin Pro" panose="020B0504020202020204" pitchFamily="34" charset="77"/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1A80D13-AFF4-1741-942F-E29EA194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15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3708E5-2886-D2F9-9D2A-19635B87C5B5}"/>
              </a:ext>
            </a:extLst>
          </p:cNvPr>
          <p:cNvSpPr txBox="1"/>
          <p:nvPr/>
        </p:nvSpPr>
        <p:spPr>
          <a:xfrm>
            <a:off x="618993" y="1444887"/>
            <a:ext cx="10922974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endParaRPr lang="pt-BR" b="1" dirty="0">
              <a:latin typeface="Acumin Pro" panose="020B0504020202020204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Missão Clara:</a:t>
            </a:r>
            <a:r>
              <a:rPr lang="pt-BR" sz="2000" dirty="0">
                <a:latin typeface="Acumin Pro" panose="020B0504020202020204" pitchFamily="34" charset="77"/>
              </a:rPr>
              <a:t> Objetivos de formação e pesquisa muito bem definidos</a:t>
            </a: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  <a:p>
            <a:pPr marR="0" lvl="0" rtl="0">
              <a:spcAft>
                <a:spcPts val="300"/>
              </a:spcAft>
            </a:pP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  <a:p>
            <a:pPr marL="285750" marR="0" lvl="0" indent="-285750" rtl="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Público-alvo:</a:t>
            </a:r>
            <a: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 Formação de excelência para pesquisadores, professores e músicos.</a:t>
            </a:r>
            <a:b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</a:b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  <a:p>
            <a:pPr marL="0" marR="0" lvl="0" indent="-342900" rtl="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Valores Transversais:</a:t>
            </a:r>
            <a: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 O currículo é pautado na transversalidade, inovação e consciência sociocultural.</a:t>
            </a:r>
          </a:p>
          <a:p>
            <a:pPr marR="0" lvl="0" rtl="0">
              <a:spcAft>
                <a:spcPts val="300"/>
              </a:spcAft>
            </a:pP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  <a:p>
            <a:pPr marL="0" marR="0" lvl="0" indent="-342900" rtl="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Corpo Docente:</a:t>
            </a:r>
            <a: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 Núcleo docente estável, altamente qualificado e adequado às demandas epistêmicas e temáticas do programa.</a:t>
            </a:r>
            <a:b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</a:b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  <a:p>
            <a:pPr marL="0" marR="0" lvl="0" indent="-342900" rtl="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Infraestrutura:</a:t>
            </a:r>
            <a: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  <a:t> Recursos físicos e bibliográficos avaliados acima da média para Mestrado e Doutorado.</a:t>
            </a:r>
            <a:br>
              <a:rPr lang="pt-BR" sz="2000" dirty="0">
                <a:solidFill>
                  <a:schemeClr val="tx1"/>
                </a:solidFill>
                <a:effectLst/>
                <a:latin typeface="Acumin Pro" panose="020B0504020202020204" pitchFamily="34" charset="77"/>
              </a:rPr>
            </a:br>
            <a:endParaRPr lang="pt-BR" sz="2000" dirty="0">
              <a:solidFill>
                <a:schemeClr val="tx1"/>
              </a:solidFill>
              <a:effectLst/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4540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39765-50F4-EB6C-0878-08501E6D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   Produção Intelectual e Acadêmica</a:t>
            </a:r>
            <a:br>
              <a:rPr lang="pt-BR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dirty="0">
              <a:solidFill>
                <a:schemeClr val="tx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09ED07B-C7B6-4186-56B3-C18D63C7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16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43BEC4-71AD-1272-E9FC-EE78CDF6AAD4}"/>
              </a:ext>
            </a:extLst>
          </p:cNvPr>
          <p:cNvSpPr txBox="1"/>
          <p:nvPr/>
        </p:nvSpPr>
        <p:spPr>
          <a:xfrm>
            <a:off x="1042737" y="2274838"/>
            <a:ext cx="99461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Nível Elevado:</a:t>
            </a:r>
            <a:r>
              <a:rPr lang="pt-BR" sz="2000" dirty="0">
                <a:latin typeface="Acumin Pro" panose="020B0504020202020204" pitchFamily="34" charset="77"/>
              </a:rPr>
              <a:t> Produção acadêmica com indicadores acima da média da área de Música.</a:t>
            </a:r>
          </a:p>
          <a:p>
            <a:pPr lvl="0"/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Diversidade:</a:t>
            </a:r>
            <a:r>
              <a:rPr lang="pt-BR" sz="2000" dirty="0">
                <a:latin typeface="Acumin Pro" panose="020B0504020202020204" pitchFamily="34" charset="77"/>
              </a:rPr>
              <a:t> Distribuição equilibrada e diversificada das produções entre docentes, discentes e egressos.</a:t>
            </a:r>
          </a:p>
          <a:p>
            <a:pPr lvl="0"/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Relevância:</a:t>
            </a:r>
            <a:r>
              <a:rPr lang="pt-BR" sz="2000" dirty="0">
                <a:latin typeface="Acumin Pro" panose="020B0504020202020204" pitchFamily="34" charset="77"/>
              </a:rPr>
              <a:t> Publicações conjuntas (nacionais e internacionais) em veículos de alto impacto e relevância para a área.</a:t>
            </a:r>
          </a:p>
        </p:txBody>
      </p:sp>
    </p:spTree>
    <p:extLst>
      <p:ext uri="{BB962C8B-B14F-4D97-AF65-F5344CB8AC3E}">
        <p14:creationId xmlns:p14="http://schemas.microsoft.com/office/powerpoint/2010/main" val="3021250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9CE8C-A199-1FE3-16C3-39A6B773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    Impactos Multidimensionais do Programa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800" dirty="0">
              <a:solidFill>
                <a:schemeClr val="tx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5E639F5-E5EC-0FDC-36F4-FF5C7331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17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A2111F-5960-B677-3C94-CEE28EEB5B0C}"/>
              </a:ext>
            </a:extLst>
          </p:cNvPr>
          <p:cNvSpPr txBox="1"/>
          <p:nvPr/>
        </p:nvSpPr>
        <p:spPr>
          <a:xfrm>
            <a:off x="1184222" y="1799699"/>
            <a:ext cx="960869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Impacto Artístico:</a:t>
            </a:r>
            <a:r>
              <a:rPr lang="pt-BR" sz="2000" dirty="0">
                <a:latin typeface="Acumin Pro" panose="020B0504020202020204" pitchFamily="34" charset="77"/>
              </a:rPr>
              <a:t> Produtos e eventos de alta relevância, com egressos se destacando nos cenários local, regional, nacional e internacional.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Impacto Educacional:</a:t>
            </a:r>
            <a:r>
              <a:rPr lang="pt-BR" sz="2000" dirty="0">
                <a:latin typeface="Acumin Pro" panose="020B0504020202020204" pitchFamily="34" charset="77"/>
              </a:rPr>
              <a:t> Forte inserção de egressos no Ensino Superior pelo país, além de atuação transformadora na educação básica e em escolas de música.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Impacto Sociocultural:</a:t>
            </a:r>
            <a:r>
              <a:rPr lang="pt-BR" sz="2000" dirty="0">
                <a:latin typeface="Acumin Pro" panose="020B0504020202020204" pitchFamily="34" charset="77"/>
              </a:rPr>
              <a:t> Contribuição para políticas artísticas/culturais, ampliação do acesso à arte e foco em questões sociais.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Impacto Tecnológico:</a:t>
            </a:r>
            <a:r>
              <a:rPr lang="pt-BR" sz="2000" dirty="0">
                <a:latin typeface="Acumin Pro" panose="020B0504020202020204" pitchFamily="34" charset="77"/>
              </a:rPr>
              <a:t> Desenvolvimento de produtos inovadores e relevantes para o campo musical.</a:t>
            </a:r>
          </a:p>
        </p:txBody>
      </p:sp>
    </p:spTree>
    <p:extLst>
      <p:ext uri="{BB962C8B-B14F-4D97-AF65-F5344CB8AC3E}">
        <p14:creationId xmlns:p14="http://schemas.microsoft.com/office/powerpoint/2010/main" val="2040110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C8AE1-3477-CABE-E124-02490279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     Internacionalização e Redes de Pesquisa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endParaRPr lang="pt-BR" sz="2800" dirty="0">
              <a:solidFill>
                <a:schemeClr val="tx1"/>
              </a:solidFill>
              <a:latin typeface="Acumin Pro" panose="020B0504020202020204" pitchFamily="34" charset="77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A40B73A-0166-3927-65DB-72AB6421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18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A60F29-6F31-87E6-003B-514372BF3090}"/>
              </a:ext>
            </a:extLst>
          </p:cNvPr>
          <p:cNvSpPr txBox="1"/>
          <p:nvPr/>
        </p:nvSpPr>
        <p:spPr>
          <a:xfrm>
            <a:off x="1319134" y="1997839"/>
            <a:ext cx="969114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Parcerias Globais:</a:t>
            </a:r>
            <a:r>
              <a:rPr lang="pt-BR" sz="2000" dirty="0">
                <a:latin typeface="Acumin Pro" panose="020B0504020202020204" pitchFamily="34" charset="77"/>
              </a:rPr>
              <a:t> Cooperação ativa com instituições da Alemanha, Canadá, EUA, França, Portugal e Suíça.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Mobilidade Acadêmica:</a:t>
            </a:r>
            <a:r>
              <a:rPr lang="pt-BR" sz="2000" dirty="0">
                <a:latin typeface="Acumin Pro" panose="020B0504020202020204" pitchFamily="34" charset="77"/>
              </a:rPr>
              <a:t> Intenso intercâmbio de docentes e discentes em eventos e projetos no exterior.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Produção Integrada:</a:t>
            </a:r>
            <a:r>
              <a:rPr lang="pt-BR" sz="2000" dirty="0">
                <a:latin typeface="Acumin Pro" panose="020B0504020202020204" pitchFamily="34" charset="77"/>
              </a:rPr>
              <a:t> Pesquisas bibliográficas e atividades artísticas desenvolvidas em conjunto com parceiros estrangeiros.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cumin Pro" panose="020B0504020202020204" pitchFamily="34" charset="77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b="1" dirty="0">
                <a:latin typeface="Acumin Pro" panose="020B0504020202020204" pitchFamily="34" charset="77"/>
              </a:rPr>
              <a:t>Acessibilidade e Estrutura:</a:t>
            </a:r>
            <a:r>
              <a:rPr lang="pt-BR" sz="2000" dirty="0">
                <a:latin typeface="Acumin Pro" panose="020B0504020202020204" pitchFamily="34" charset="77"/>
              </a:rPr>
              <a:t> Presença de programa de cotutela e site institucional bilíngue (inglês e espanhol).</a:t>
            </a:r>
          </a:p>
        </p:txBody>
      </p:sp>
    </p:spTree>
    <p:extLst>
      <p:ext uri="{BB962C8B-B14F-4D97-AF65-F5344CB8AC3E}">
        <p14:creationId xmlns:p14="http://schemas.microsoft.com/office/powerpoint/2010/main" val="2306837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E337E-B48E-4A97-827F-A2945127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  <a:t>Avaliação de Excelência </a:t>
            </a:r>
            <a:br>
              <a:rPr lang="pt-BR" sz="28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PPG Música da UFMG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2D3515-83F2-112C-6995-E965075C3D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endParaRPr lang="pt-BR" sz="2400" b="1" dirty="0">
              <a:latin typeface="Acumin Pro" panose="020B0504020202020204" pitchFamily="34" charset="77"/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cumin Pro" panose="020B0504020202020204" pitchFamily="34" charset="77"/>
              </a:rPr>
              <a:t>Apreciação: </a:t>
            </a: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O relatório está muito consistente e bem elaborado, contendo informações detalhadas e adequadas sobre todos os itens definidos pela avaliação quadrienal.</a:t>
            </a:r>
          </a:p>
          <a:p>
            <a:pPr marL="0" lv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cumin Pro" panose="020B0504020202020204" pitchFamily="34" charset="77"/>
              </a:rPr>
              <a:t>Nota Final:</a:t>
            </a: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 6 (Recomendada).</a:t>
            </a:r>
          </a:p>
          <a:p>
            <a:pPr marL="0" lv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cumin Pro" panose="020B0504020202020204" pitchFamily="34" charset="77"/>
              </a:rPr>
              <a:t>Conceito Máximo:</a:t>
            </a: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 Recebeu conceito "MB" (Muito Bom) nos 3 quesitos da avaliação.</a:t>
            </a:r>
          </a:p>
          <a:p>
            <a:pPr marL="0" lvl="0" indent="0">
              <a:buNone/>
            </a:pPr>
            <a:r>
              <a:rPr lang="pt-BR" sz="2400" b="1" dirty="0">
                <a:solidFill>
                  <a:schemeClr val="tx1"/>
                </a:solidFill>
                <a:latin typeface="Acumin Pro" panose="020B0504020202020204" pitchFamily="34" charset="77"/>
              </a:rPr>
              <a:t>Destaque na Área:</a:t>
            </a: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 Destaca-se dos demais programas que receberam nota 5, demonstrando liderança nacional e padrão de atuação internacional.</a:t>
            </a:r>
          </a:p>
          <a:p>
            <a:pPr marL="0" indent="0">
              <a:buNone/>
            </a:pPr>
            <a:endParaRPr lang="pt-BR" dirty="0">
              <a:latin typeface="Acumin Pro" panose="020B0504020202020204" pitchFamily="34" charset="77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5BB5D9-2442-A1E8-F263-D02928361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0821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77A8028-EEFA-E757-F15F-5771316E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7" r="5189" b="2"/>
          <a:stretch>
            <a:fillRect/>
          </a:stretch>
        </p:blipFill>
        <p:spPr>
          <a:xfrm>
            <a:off x="2792259" y="279873"/>
            <a:ext cx="7292308" cy="5980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3506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21</a:t>
            </a:fld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88659" y="206474"/>
            <a:ext cx="7257199" cy="123258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br>
              <a:rPr lang="pt-BR" sz="2400" dirty="0">
                <a:latin typeface="Acumin Pro" panose="020B0504020202020204" pitchFamily="34" charset="77"/>
              </a:rPr>
            </a:br>
            <a:r>
              <a:rPr lang="pt-BR" sz="2400" dirty="0">
                <a:solidFill>
                  <a:schemeClr val="tx1"/>
                </a:solidFill>
                <a:latin typeface="Acumin Pro" panose="020B0504020202020204" pitchFamily="34" charset="77"/>
              </a:rPr>
              <a:t>Programa nota 6 - Pontos de atenção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6351" y="1439057"/>
            <a:ext cx="10569676" cy="5148556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lvl="0" indent="0" algn="just" defTabSz="457200">
              <a:spcBef>
                <a:spcPts val="0"/>
              </a:spcBef>
              <a:buNone/>
              <a:defRPr/>
            </a:pPr>
            <a:r>
              <a:rPr lang="pt-BR" sz="2000" dirty="0">
                <a:latin typeface="Acumin Pro" panose="020B0504020202020204" pitchFamily="34" charset="77"/>
              </a:rPr>
              <a:t> </a:t>
            </a: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Detalhamento da produção no lattes para preenchimento da Sucupira e escrita do relatório qualitativo da quadrienal.</a:t>
            </a: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Maior produção em periódicos: docentes, discentes/docentes (derivadas das dissertações</a:t>
            </a:r>
            <a:b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</a:b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e teses. Forte foco em anais);</a:t>
            </a: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Inserção de atividades de extensão no Programa;</a:t>
            </a: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solidFill>
                <a:schemeClr val="tx1"/>
              </a:solidFill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r>
              <a:rPr lang="pt-BR" sz="2000" dirty="0">
                <a:solidFill>
                  <a:schemeClr val="tx1"/>
                </a:solidFill>
                <a:latin typeface="Acumin Pro" panose="020B0504020202020204" pitchFamily="34" charset="77"/>
              </a:rPr>
              <a:t>Infraestrutura: convivência entre discentes, espaço de pesquisa, sala de defesa, maior presença de mestrandos e doutorandos nas defesas;</a:t>
            </a: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marL="0" lvl="0" indent="0" algn="just" defTabSz="457200">
              <a:spcBef>
                <a:spcPts val="0"/>
              </a:spcBef>
              <a:buNone/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endParaRPr lang="pt-BR" dirty="0">
              <a:latin typeface="Acumin Pro" panose="020B0504020202020204" pitchFamily="34" charset="77"/>
            </a:endParaRPr>
          </a:p>
          <a:p>
            <a:pPr rtl="0"/>
            <a:endParaRPr lang="pt-BR" dirty="0"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EA57A3B-3F21-A5B3-E193-58A42FC1B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22</a:t>
            </a:fld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BC848D-1299-B32B-0C59-6F8E2C7092B2}"/>
              </a:ext>
            </a:extLst>
          </p:cNvPr>
          <p:cNvSpPr txBox="1"/>
          <p:nvPr/>
        </p:nvSpPr>
        <p:spPr>
          <a:xfrm>
            <a:off x="954759" y="1502206"/>
            <a:ext cx="1015871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2000" dirty="0">
                <a:latin typeface="Acumin Pro" panose="020B0504020202020204" pitchFamily="34" charset="77"/>
              </a:rPr>
              <a:t>Maior participação nos editais do </a:t>
            </a:r>
            <a:r>
              <a:rPr lang="pt-BR" sz="2000" b="1" dirty="0">
                <a:latin typeface="Acumin Pro" panose="020B0504020202020204" pitchFamily="34" charset="77"/>
              </a:rPr>
              <a:t>Grupo de Cooperação Internacional de Universidades Brasileiras (GCUB)</a:t>
            </a:r>
            <a:r>
              <a:rPr lang="pt-BR" sz="2000" b="1" cap="all" dirty="0">
                <a:latin typeface="Acumin Pro" panose="020B0504020202020204" pitchFamily="34" charset="77"/>
              </a:rPr>
              <a:t>; </a:t>
            </a:r>
            <a:r>
              <a:rPr lang="pt-BR" sz="2000" b="1" dirty="0">
                <a:latin typeface="Acumin Pro" panose="020B0504020202020204" pitchFamily="34" charset="77"/>
              </a:rPr>
              <a:t>Move La América; Redes para Internacionalização (CAPES Global.edu).</a:t>
            </a:r>
          </a:p>
          <a:p>
            <a:pPr algn="just"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algn="just">
              <a:defRPr/>
            </a:pPr>
            <a:r>
              <a:rPr lang="pt-BR" sz="2000" dirty="0">
                <a:latin typeface="Acumin Pro" panose="020B0504020202020204" pitchFamily="34" charset="77"/>
              </a:rPr>
              <a:t>Participar dos editais para melhoria de laboratórios de pesquisa (</a:t>
            </a:r>
            <a:r>
              <a:rPr lang="pt-BR" sz="2000" dirty="0" err="1">
                <a:latin typeface="Acumin Pro" panose="020B0504020202020204" pitchFamily="34" charset="77"/>
              </a:rPr>
              <a:t>INOVALab</a:t>
            </a:r>
            <a:r>
              <a:rPr lang="pt-BR" sz="2000" dirty="0">
                <a:latin typeface="Acumin Pro" panose="020B0504020202020204" pitchFamily="34" charset="77"/>
              </a:rPr>
              <a:t> (CAPES); Pró-Equipamentos (CAPES);</a:t>
            </a:r>
          </a:p>
          <a:p>
            <a:pPr algn="just">
              <a:defRPr/>
            </a:pPr>
            <a:endParaRPr lang="pt-BR" sz="2000" dirty="0">
              <a:latin typeface="Acumin Pro" panose="020B0504020202020204" pitchFamily="34" charset="77"/>
            </a:endParaRPr>
          </a:p>
          <a:p>
            <a:pPr algn="just">
              <a:defRPr/>
            </a:pPr>
            <a:r>
              <a:rPr lang="pt-BR" sz="2000" dirty="0">
                <a:latin typeface="Acumin Pro" panose="020B0504020202020204" pitchFamily="34" charset="77"/>
              </a:rPr>
              <a:t>Recomendação CAPES: Área de Artes pode estar mais atenta à indicação da produção de discentes/egressos vinculada aos trabalhos finais (teses e dissertações): subnotificação por falta de marcação nos campos adequados da Plataforma Sucupira</a:t>
            </a:r>
            <a:r>
              <a:rPr lang="pt-BR" sz="2000" b="1" dirty="0">
                <a:latin typeface="Acumin Pro" panose="020B0504020202020204" pitchFamily="34" charset="77"/>
              </a:rPr>
              <a:t> (acompanhamentos dos egressos pelos orientadores – 5 anos)</a:t>
            </a:r>
          </a:p>
          <a:p>
            <a:pPr marL="0" indent="0">
              <a:buNone/>
            </a:pPr>
            <a:endParaRPr lang="pt-BR" sz="1800" dirty="0">
              <a:latin typeface="Acumin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8612444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{05D4E19B-3511-4868-977A-FFC5426E7BCE}TF8a9b5915-b8c7-461e-8cdd-693d48b5e323c6a6caed_win32-b6157470412c</Template>
  <TotalTime>3029</TotalTime>
  <Words>1709</Words>
  <Application>Microsoft Macintosh PowerPoint</Application>
  <PresentationFormat>Widescreen</PresentationFormat>
  <Paragraphs>132</Paragraphs>
  <Slides>22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Acumin Pro</vt:lpstr>
      <vt:lpstr>Arial</vt:lpstr>
      <vt:lpstr>Arial Black</vt:lpstr>
      <vt:lpstr>Calibri</vt:lpstr>
      <vt:lpstr>Sabon Next LT</vt:lpstr>
      <vt:lpstr>Personalizado</vt:lpstr>
      <vt:lpstr>IV Seminário de Autoavaliação e planejamento estratégico   (comape/PPGMUS ufmg)   avaliação quadrienal capes 2021-2024 | nota 6    </vt:lpstr>
      <vt:lpstr>Ficha avaliação</vt:lpstr>
      <vt:lpstr>Programa avaliação</vt:lpstr>
      <vt:lpstr>          1. PROGRAMA</vt:lpstr>
      <vt:lpstr>Apresentação do PowerPoint</vt:lpstr>
      <vt:lpstr>Ficha de avaliação</vt:lpstr>
      <vt:lpstr>avaliação</vt:lpstr>
      <vt:lpstr>  formação  </vt:lpstr>
      <vt:lpstr>Apresentação do PowerPoint</vt:lpstr>
      <vt:lpstr>Ficha de avaliação</vt:lpstr>
      <vt:lpstr>avaliação</vt:lpstr>
      <vt:lpstr>3. Impacto na sociedade </vt:lpstr>
      <vt:lpstr> 3. Impacto na sociedade </vt:lpstr>
      <vt:lpstr>QUESITOS DE EXCELÊNCIA  programas NOTAs 6 E 7</vt:lpstr>
      <vt:lpstr>    Formação e Estrutura Curricular </vt:lpstr>
      <vt:lpstr>   Produção Intelectual e Acadêmica </vt:lpstr>
      <vt:lpstr>    Impactos Multidimensionais do Programa </vt:lpstr>
      <vt:lpstr>     Internacionalização e Redes de Pesquisa </vt:lpstr>
      <vt:lpstr>Avaliação de Excelência  PPG Música da UFMG</vt:lpstr>
      <vt:lpstr>Apresentação do PowerPoint</vt:lpstr>
      <vt:lpstr> Programa nota 6 - Pontos de atenção</vt:lpstr>
      <vt:lpstr>Apresentação do PowerPoint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 Seminário de Autoavaliação e planejamento estratégico   (comape/PPGMUS ufmg)   avaliação quadrienal capes 2021-2024 | nota 6    </dc:title>
  <dc:subject/>
  <dc:creator>Helena Lopes</dc:creator>
  <cp:lastModifiedBy>Microsoft Office User</cp:lastModifiedBy>
  <cp:revision>7</cp:revision>
  <dcterms:created xsi:type="dcterms:W3CDTF">2026-08-23T14:41:58Z</dcterms:created>
  <dcterms:modified xsi:type="dcterms:W3CDTF">2026-08-25T19:19:59Z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